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7D8290-F77C-4257-BBEA-6C86ECEFF609}" v="4" dt="2022-04-25T21:47:43.9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2A1B0AB-A17E-490A-9A0A-AD76E9862048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9234D5C-2798-4027-AA38-7AC20F23B703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To understand the various features in dataset.</a:t>
          </a:r>
          <a:endParaRPr lang="en-US"/>
        </a:p>
      </dgm:t>
    </dgm:pt>
    <dgm:pt modelId="{FBD11918-3331-4494-B9D8-39069CE50B71}" type="parTrans" cxnId="{AEA2A5F5-2AFC-4987-875B-6EA068AA6641}">
      <dgm:prSet/>
      <dgm:spPr/>
      <dgm:t>
        <a:bodyPr/>
        <a:lstStyle/>
        <a:p>
          <a:endParaRPr lang="en-US"/>
        </a:p>
      </dgm:t>
    </dgm:pt>
    <dgm:pt modelId="{7F4FD599-4339-4F2D-90D5-6B2FE21E673F}" type="sibTrans" cxnId="{AEA2A5F5-2AFC-4987-875B-6EA068AA6641}">
      <dgm:prSet/>
      <dgm:spPr/>
      <dgm:t>
        <a:bodyPr/>
        <a:lstStyle/>
        <a:p>
          <a:endParaRPr lang="en-US"/>
        </a:p>
      </dgm:t>
    </dgm:pt>
    <dgm:pt modelId="{2DE4C7EC-0E24-40FC-9001-34A9F0F4E84C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It helps us to find better model</a:t>
          </a:r>
          <a:endParaRPr lang="en-US"/>
        </a:p>
      </dgm:t>
    </dgm:pt>
    <dgm:pt modelId="{ADFB657A-1F79-4D58-A6F0-D441BE2E3E8C}" type="parTrans" cxnId="{75931131-1D51-4E56-B49D-A28C0DF6DE92}">
      <dgm:prSet/>
      <dgm:spPr/>
      <dgm:t>
        <a:bodyPr/>
        <a:lstStyle/>
        <a:p>
          <a:endParaRPr lang="en-US"/>
        </a:p>
      </dgm:t>
    </dgm:pt>
    <dgm:pt modelId="{5A1DCED5-0FEF-4E8D-BCCE-A77B9E0A848A}" type="sibTrans" cxnId="{75931131-1D51-4E56-B49D-A28C0DF6DE92}">
      <dgm:prSet/>
      <dgm:spPr/>
      <dgm:t>
        <a:bodyPr/>
        <a:lstStyle/>
        <a:p>
          <a:endParaRPr lang="en-US"/>
        </a:p>
      </dgm:t>
    </dgm:pt>
    <dgm:pt modelId="{DCEFBFF8-48A4-461E-8262-16C1A52D341D}" type="pres">
      <dgm:prSet presAssocID="{02A1B0AB-A17E-490A-9A0A-AD76E9862048}" presName="root" presStyleCnt="0">
        <dgm:presLayoutVars>
          <dgm:dir/>
          <dgm:resizeHandles val="exact"/>
        </dgm:presLayoutVars>
      </dgm:prSet>
      <dgm:spPr/>
    </dgm:pt>
    <dgm:pt modelId="{B4F3C984-40DD-46FD-B273-1EC18252D26F}" type="pres">
      <dgm:prSet presAssocID="{E9234D5C-2798-4027-AA38-7AC20F23B703}" presName="compNode" presStyleCnt="0"/>
      <dgm:spPr/>
    </dgm:pt>
    <dgm:pt modelId="{B39B7A33-9C76-4224-B2B9-17B07A994E7E}" type="pres">
      <dgm:prSet presAssocID="{E9234D5C-2798-4027-AA38-7AC20F23B703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C2D0B1CA-0653-463F-BD8A-A5913AA8C8A7}" type="pres">
      <dgm:prSet presAssocID="{E9234D5C-2798-4027-AA38-7AC20F23B703}" presName="spaceRect" presStyleCnt="0"/>
      <dgm:spPr/>
    </dgm:pt>
    <dgm:pt modelId="{C4DA1526-AD96-44FC-81D4-D727E66C6560}" type="pres">
      <dgm:prSet presAssocID="{E9234D5C-2798-4027-AA38-7AC20F23B703}" presName="textRect" presStyleLbl="revTx" presStyleIdx="0" presStyleCnt="2">
        <dgm:presLayoutVars>
          <dgm:chMax val="1"/>
          <dgm:chPref val="1"/>
        </dgm:presLayoutVars>
      </dgm:prSet>
      <dgm:spPr/>
    </dgm:pt>
    <dgm:pt modelId="{FDAA5EA4-741A-4CBE-B4DC-A0E76102C09E}" type="pres">
      <dgm:prSet presAssocID="{7F4FD599-4339-4F2D-90D5-6B2FE21E673F}" presName="sibTrans" presStyleCnt="0"/>
      <dgm:spPr/>
    </dgm:pt>
    <dgm:pt modelId="{861889D7-01E9-4754-9B4A-E0062024793E}" type="pres">
      <dgm:prSet presAssocID="{2DE4C7EC-0E24-40FC-9001-34A9F0F4E84C}" presName="compNode" presStyleCnt="0"/>
      <dgm:spPr/>
    </dgm:pt>
    <dgm:pt modelId="{6C48DE21-7D22-41CB-AC92-0CF67B6EFB6F}" type="pres">
      <dgm:prSet presAssocID="{2DE4C7EC-0E24-40FC-9001-34A9F0F4E84C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518285CA-2B28-48BE-8D94-74CB4F5DD162}" type="pres">
      <dgm:prSet presAssocID="{2DE4C7EC-0E24-40FC-9001-34A9F0F4E84C}" presName="spaceRect" presStyleCnt="0"/>
      <dgm:spPr/>
    </dgm:pt>
    <dgm:pt modelId="{E2564587-EADB-4D6B-B353-CF583948FE3C}" type="pres">
      <dgm:prSet presAssocID="{2DE4C7EC-0E24-40FC-9001-34A9F0F4E84C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68AC260A-AD89-4C5A-A466-EEBCDB0C1CB7}" type="presOf" srcId="{2DE4C7EC-0E24-40FC-9001-34A9F0F4E84C}" destId="{E2564587-EADB-4D6B-B353-CF583948FE3C}" srcOrd="0" destOrd="0" presId="urn:microsoft.com/office/officeart/2018/2/layout/IconLabelList"/>
    <dgm:cxn modelId="{DBDD4330-0879-4D4B-934D-62333026EC34}" type="presOf" srcId="{E9234D5C-2798-4027-AA38-7AC20F23B703}" destId="{C4DA1526-AD96-44FC-81D4-D727E66C6560}" srcOrd="0" destOrd="0" presId="urn:microsoft.com/office/officeart/2018/2/layout/IconLabelList"/>
    <dgm:cxn modelId="{75931131-1D51-4E56-B49D-A28C0DF6DE92}" srcId="{02A1B0AB-A17E-490A-9A0A-AD76E9862048}" destId="{2DE4C7EC-0E24-40FC-9001-34A9F0F4E84C}" srcOrd="1" destOrd="0" parTransId="{ADFB657A-1F79-4D58-A6F0-D441BE2E3E8C}" sibTransId="{5A1DCED5-0FEF-4E8D-BCCE-A77B9E0A848A}"/>
    <dgm:cxn modelId="{78504771-33E5-46E5-8CEF-8BB32A61506B}" type="presOf" srcId="{02A1B0AB-A17E-490A-9A0A-AD76E9862048}" destId="{DCEFBFF8-48A4-461E-8262-16C1A52D341D}" srcOrd="0" destOrd="0" presId="urn:microsoft.com/office/officeart/2018/2/layout/IconLabelList"/>
    <dgm:cxn modelId="{AEA2A5F5-2AFC-4987-875B-6EA068AA6641}" srcId="{02A1B0AB-A17E-490A-9A0A-AD76E9862048}" destId="{E9234D5C-2798-4027-AA38-7AC20F23B703}" srcOrd="0" destOrd="0" parTransId="{FBD11918-3331-4494-B9D8-39069CE50B71}" sibTransId="{7F4FD599-4339-4F2D-90D5-6B2FE21E673F}"/>
    <dgm:cxn modelId="{70B8C8FF-EFC0-4FE9-8BF5-4ED66C80DDEC}" type="presParOf" srcId="{DCEFBFF8-48A4-461E-8262-16C1A52D341D}" destId="{B4F3C984-40DD-46FD-B273-1EC18252D26F}" srcOrd="0" destOrd="0" presId="urn:microsoft.com/office/officeart/2018/2/layout/IconLabelList"/>
    <dgm:cxn modelId="{B7C6A799-B9CC-42D6-9769-3DD00A7F273D}" type="presParOf" srcId="{B4F3C984-40DD-46FD-B273-1EC18252D26F}" destId="{B39B7A33-9C76-4224-B2B9-17B07A994E7E}" srcOrd="0" destOrd="0" presId="urn:microsoft.com/office/officeart/2018/2/layout/IconLabelList"/>
    <dgm:cxn modelId="{F7145152-DA77-44A4-ADB7-34A0C65B5A20}" type="presParOf" srcId="{B4F3C984-40DD-46FD-B273-1EC18252D26F}" destId="{C2D0B1CA-0653-463F-BD8A-A5913AA8C8A7}" srcOrd="1" destOrd="0" presId="urn:microsoft.com/office/officeart/2018/2/layout/IconLabelList"/>
    <dgm:cxn modelId="{2D860C21-40F6-4D62-8D21-5BDEAD60CBB4}" type="presParOf" srcId="{B4F3C984-40DD-46FD-B273-1EC18252D26F}" destId="{C4DA1526-AD96-44FC-81D4-D727E66C6560}" srcOrd="2" destOrd="0" presId="urn:microsoft.com/office/officeart/2018/2/layout/IconLabelList"/>
    <dgm:cxn modelId="{CDE059D8-B156-482C-A6E0-61849193976E}" type="presParOf" srcId="{DCEFBFF8-48A4-461E-8262-16C1A52D341D}" destId="{FDAA5EA4-741A-4CBE-B4DC-A0E76102C09E}" srcOrd="1" destOrd="0" presId="urn:microsoft.com/office/officeart/2018/2/layout/IconLabelList"/>
    <dgm:cxn modelId="{60455AF6-2DBC-4124-A3C1-48A974FEA299}" type="presParOf" srcId="{DCEFBFF8-48A4-461E-8262-16C1A52D341D}" destId="{861889D7-01E9-4754-9B4A-E0062024793E}" srcOrd="2" destOrd="0" presId="urn:microsoft.com/office/officeart/2018/2/layout/IconLabelList"/>
    <dgm:cxn modelId="{24562B82-4DD9-4654-AF16-77F6A5185740}" type="presParOf" srcId="{861889D7-01E9-4754-9B4A-E0062024793E}" destId="{6C48DE21-7D22-41CB-AC92-0CF67B6EFB6F}" srcOrd="0" destOrd="0" presId="urn:microsoft.com/office/officeart/2018/2/layout/IconLabelList"/>
    <dgm:cxn modelId="{0877E8DB-8402-4B45-BD69-0F7E082185C2}" type="presParOf" srcId="{861889D7-01E9-4754-9B4A-E0062024793E}" destId="{518285CA-2B28-48BE-8D94-74CB4F5DD162}" srcOrd="1" destOrd="0" presId="urn:microsoft.com/office/officeart/2018/2/layout/IconLabelList"/>
    <dgm:cxn modelId="{15EDF9E1-0C96-4C6E-BF4E-868853FA40A9}" type="presParOf" srcId="{861889D7-01E9-4754-9B4A-E0062024793E}" destId="{E2564587-EADB-4D6B-B353-CF583948FE3C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9B7A33-9C76-4224-B2B9-17B07A994E7E}">
      <dsp:nvSpPr>
        <dsp:cNvPr id="0" name=""/>
        <dsp:cNvSpPr/>
      </dsp:nvSpPr>
      <dsp:spPr>
        <a:xfrm>
          <a:off x="1747800" y="608594"/>
          <a:ext cx="1944000" cy="1944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DA1526-AD96-44FC-81D4-D727E66C6560}">
      <dsp:nvSpPr>
        <dsp:cNvPr id="0" name=""/>
        <dsp:cNvSpPr/>
      </dsp:nvSpPr>
      <dsp:spPr>
        <a:xfrm>
          <a:off x="559800" y="3022743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/>
            <a:t>To understand the various features in dataset.</a:t>
          </a:r>
          <a:endParaRPr lang="en-US" sz="2300" kern="1200"/>
        </a:p>
      </dsp:txBody>
      <dsp:txXfrm>
        <a:off x="559800" y="3022743"/>
        <a:ext cx="4320000" cy="720000"/>
      </dsp:txXfrm>
    </dsp:sp>
    <dsp:sp modelId="{6C48DE21-7D22-41CB-AC92-0CF67B6EFB6F}">
      <dsp:nvSpPr>
        <dsp:cNvPr id="0" name=""/>
        <dsp:cNvSpPr/>
      </dsp:nvSpPr>
      <dsp:spPr>
        <a:xfrm>
          <a:off x="6823800" y="608594"/>
          <a:ext cx="1944000" cy="1944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564587-EADB-4D6B-B353-CF583948FE3C}">
      <dsp:nvSpPr>
        <dsp:cNvPr id="0" name=""/>
        <dsp:cNvSpPr/>
      </dsp:nvSpPr>
      <dsp:spPr>
        <a:xfrm>
          <a:off x="5635800" y="3022743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/>
            <a:t>It helps us to find better model</a:t>
          </a:r>
          <a:endParaRPr lang="en-US" sz="2300" kern="1200"/>
        </a:p>
      </dsp:txBody>
      <dsp:txXfrm>
        <a:off x="5635800" y="3022743"/>
        <a:ext cx="432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279CC-6982-400F-8AF8-D5B085E678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29E003-D543-4BA6-AF86-6B237E869F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A50D7-EF97-4350-9F6A-5ABEA9383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43882-8AD7-4DF7-814A-C3AF812A42C8}" type="datetimeFigureOut">
              <a:rPr lang="en-IN" smtClean="0"/>
              <a:t>26-04-2022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CCC7C6-280F-483C-8C48-CBD632FC1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961297-12D8-43BD-B339-4D5E951E3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64AEF-7E0D-486C-90CC-CCD524D35E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8897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4C364-8F63-47BB-B0D0-2064A487D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031FA-04D7-4958-B451-25454DA6F8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1119EB-F74B-4F43-8DD0-8BD4E7B06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43882-8AD7-4DF7-814A-C3AF812A42C8}" type="datetimeFigureOut">
              <a:rPr lang="en-IN" smtClean="0"/>
              <a:t>26-04-2022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279187-8C63-48D9-954A-32359FB27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E3E4CF-22C1-49AD-A949-4D1F4249D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64AEF-7E0D-486C-90CC-CCD524D35E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5731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9B8E1-7703-4EE6-AF61-BC6C829E8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F7D834-6B1F-45D4-A395-606910089B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7D3A76-E45F-4D4D-B620-8CB2862B1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43882-8AD7-4DF7-814A-C3AF812A42C8}" type="datetimeFigureOut">
              <a:rPr lang="en-IN" smtClean="0"/>
              <a:t>26-04-2022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5AB14B-FE3D-4B7E-A87D-2372BF531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CBA474-33DE-4146-B243-4418435F2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64AEF-7E0D-486C-90CC-CCD524D35E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93731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D9917-52B3-41B7-9975-C0783CDA0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8CD56E-C6E5-477C-BFAB-8A90AAF70B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666A69-1D1B-4CF3-B2EC-FCA0FA6A23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2660DF-B6BF-4A9E-8406-D27B047D8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43882-8AD7-4DF7-814A-C3AF812A42C8}" type="datetimeFigureOut">
              <a:rPr lang="en-IN" smtClean="0"/>
              <a:t>26-04-2022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45836C-4C27-4F12-900D-C07EB69D6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1D5451-360C-4E8F-A0A3-9D498F3C0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64AEF-7E0D-486C-90CC-CCD524D35E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66424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2B65E-A68E-403D-85D2-C3EB1D70A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88DFC7-A015-47F8-A7BB-078668B78D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8A44FA-ED66-44E4-8D02-94DBF3E326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AC5C91-F8F8-478F-9487-9E90DCC15C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4EECF1-97B2-4899-9AF1-8EB4173BA0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E3B2DE-4179-48E8-8B7C-70AF0F6CF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43882-8AD7-4DF7-814A-C3AF812A42C8}" type="datetimeFigureOut">
              <a:rPr lang="en-IN" smtClean="0"/>
              <a:t>26-04-2022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F9005E-70B5-4314-BAFB-127313B1F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A8A3D4-3A13-46CD-9750-4DAC75591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64AEF-7E0D-486C-90CC-CCD524D35E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14948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D260C-FFD2-4CE8-A4DD-456195BE8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955B29-DCAA-44D6-A88A-CF1BF762C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43882-8AD7-4DF7-814A-C3AF812A42C8}" type="datetimeFigureOut">
              <a:rPr lang="en-IN" smtClean="0"/>
              <a:t>26-04-2022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50B89B-72D4-4BF0-A493-7498B1AB9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AF4F58-9DFC-4950-9677-F0A6C247E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64AEF-7E0D-486C-90CC-CCD524D35E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12074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DCEFAE-9EA0-46DE-9A4E-40B003F26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43882-8AD7-4DF7-814A-C3AF812A42C8}" type="datetimeFigureOut">
              <a:rPr lang="en-IN" smtClean="0"/>
              <a:t>26-04-2022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E77F06-9028-41A7-A8C8-8FA2B3665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F82428-0F03-4D8A-883D-C1BD9483A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64AEF-7E0D-486C-90CC-CCD524D35E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33897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5F291-7799-407B-80EE-9B62A1DBF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08DC59-36CD-4940-9425-4472ADC453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213283-189D-4AFD-A96D-55487D7911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DC459E-01F8-477A-88EF-E4704C32E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43882-8AD7-4DF7-814A-C3AF812A42C8}" type="datetimeFigureOut">
              <a:rPr lang="en-IN" smtClean="0"/>
              <a:t>26-04-2022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E644C1-40CF-40E6-878B-BD00AE409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7E25B-D52B-4D2D-BFBF-71C7D459E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64AEF-7E0D-486C-90CC-CCD524D35E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61678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BEFB7-022F-43E3-9E4E-17600B73E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EB454A-A95D-4562-A31B-808DB92E11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109EF6-1C90-444B-A92C-5C90D6A9FE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114763-F284-4299-9717-AEFB2B060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43882-8AD7-4DF7-814A-C3AF812A42C8}" type="datetimeFigureOut">
              <a:rPr lang="en-IN" smtClean="0"/>
              <a:t>26-04-2022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6EE8AF-A1FB-4D62-9C4E-2BCB9C8BA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EEC468-E423-49B6-8825-D2F625ACB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64AEF-7E0D-486C-90CC-CCD524D35E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46964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F7D4B-6E5E-454A-88EF-A27F8B74A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70B34A-579A-4396-9E28-38FAAC7810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ED4803-763E-4392-8580-F47E998AA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43882-8AD7-4DF7-814A-C3AF812A42C8}" type="datetimeFigureOut">
              <a:rPr lang="en-IN" smtClean="0"/>
              <a:t>26-04-2022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587A08-5A4E-4DCF-BCEA-9563991D8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04F5D4-72D9-4283-B477-8E02EAEB0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64AEF-7E0D-486C-90CC-CCD524D35E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47407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A8765-9D9E-40C3-ACD7-F29F73DE1F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523F4A-92E0-4AE4-9FFB-3647F46DB1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A72E29-8168-440C-8EAD-F8800F38F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43882-8AD7-4DF7-814A-C3AF812A42C8}" type="datetimeFigureOut">
              <a:rPr lang="en-IN" smtClean="0"/>
              <a:t>26-04-2022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406D12-9FDE-42FC-BB35-E88BB4E65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A8139E-FD6B-4ACD-A48F-1578E7B3E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64AEF-7E0D-486C-90CC-CCD524D35E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25435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164214-30E1-4B3E-83D3-5F9FEE1DA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126B10-C071-4C70-B5CF-4F465E746A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C413B3-7673-4D78-B0D6-AA68C5B01B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843882-8AD7-4DF7-814A-C3AF812A42C8}" type="datetimeFigureOut">
              <a:rPr lang="en-IN" smtClean="0"/>
              <a:t>26-04-2022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E12711-F0D5-4357-A775-BBC2EB7251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D88A6D-BD83-47F4-94BE-CFD925BD3B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764AEF-7E0D-486C-90CC-CCD524D35E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4511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7.jpe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C475749F-F487-4EFB-ABC7-C1359590EB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DF101A-1C29-490C-88B2-951F0ECEDB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80028" y="3376123"/>
            <a:ext cx="4515147" cy="1529232"/>
          </a:xfrm>
        </p:spPr>
        <p:txBody>
          <a:bodyPr>
            <a:normAutofit/>
          </a:bodyPr>
          <a:lstStyle/>
          <a:p>
            <a:pPr algn="r"/>
            <a:r>
              <a:rPr lang="en-US" sz="4400"/>
              <a:t>Credit card data </a:t>
            </a:r>
            <a:br>
              <a:rPr lang="en-US" sz="4400"/>
            </a:br>
            <a:endParaRPr lang="en-IN" sz="44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628364-02B8-431F-8F4F-31B14BEC6C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29886" y="4653280"/>
            <a:ext cx="4165290" cy="1188720"/>
          </a:xfrm>
        </p:spPr>
        <p:txBody>
          <a:bodyPr>
            <a:noAutofit/>
          </a:bodyPr>
          <a:lstStyle/>
          <a:p>
            <a:pPr algn="r"/>
            <a:r>
              <a:rPr lang="en-US" sz="2800" dirty="0"/>
              <a:t>Here we load our credit card dataset to pandas</a:t>
            </a:r>
            <a:endParaRPr lang="en-IN" sz="2800" dirty="0"/>
          </a:p>
        </p:txBody>
      </p:sp>
      <p:pic>
        <p:nvPicPr>
          <p:cNvPr id="1026" name="Picture 2" descr="How to Deal With Germy Money and Cards – Cleveland Clinic">
            <a:extLst>
              <a:ext uri="{FF2B5EF4-FFF2-40B4-BE49-F238E27FC236}">
                <a16:creationId xmlns:a16="http://schemas.microsoft.com/office/drawing/2014/main" id="{13691197-AEB5-4017-8BFD-D2FD677C64D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8" r="374"/>
          <a:stretch/>
        </p:blipFill>
        <p:spPr bwMode="auto">
          <a:xfrm>
            <a:off x="-2192" y="10"/>
            <a:ext cx="8436340" cy="6857990"/>
          </a:xfrm>
          <a:custGeom>
            <a:avLst/>
            <a:gdLst/>
            <a:ahLst/>
            <a:cxnLst/>
            <a:rect l="l" t="t" r="r" b="b"/>
            <a:pathLst>
              <a:path w="8436340" h="6858000">
                <a:moveTo>
                  <a:pt x="6950358" y="3911316"/>
                </a:moveTo>
                <a:lnTo>
                  <a:pt x="6950358" y="3925503"/>
                </a:lnTo>
                <a:lnTo>
                  <a:pt x="6948404" y="3918409"/>
                </a:lnTo>
                <a:close/>
                <a:moveTo>
                  <a:pt x="890899" y="2071857"/>
                </a:moveTo>
                <a:cubicBezTo>
                  <a:pt x="890899" y="2071857"/>
                  <a:pt x="890899" y="2071857"/>
                  <a:pt x="4934362" y="2071857"/>
                </a:cubicBezTo>
                <a:cubicBezTo>
                  <a:pt x="5187625" y="2071857"/>
                  <a:pt x="5432153" y="2211072"/>
                  <a:pt x="5554418" y="2437296"/>
                </a:cubicBezTo>
                <a:cubicBezTo>
                  <a:pt x="5554418" y="2437296"/>
                  <a:pt x="5554418" y="2437296"/>
                  <a:pt x="7580515" y="5926372"/>
                </a:cubicBezTo>
                <a:cubicBezTo>
                  <a:pt x="7711513" y="6143896"/>
                  <a:pt x="7711513" y="6422327"/>
                  <a:pt x="7580515" y="6639850"/>
                </a:cubicBezTo>
                <a:cubicBezTo>
                  <a:pt x="7580515" y="6639850"/>
                  <a:pt x="7580515" y="6639850"/>
                  <a:pt x="7473670" y="6823844"/>
                </a:cubicBezTo>
                <a:lnTo>
                  <a:pt x="7453836" y="6858000"/>
                </a:lnTo>
                <a:lnTo>
                  <a:pt x="0" y="6858000"/>
                </a:lnTo>
                <a:lnTo>
                  <a:pt x="0" y="2890622"/>
                </a:lnTo>
                <a:lnTo>
                  <a:pt x="78831" y="2754282"/>
                </a:lnTo>
                <a:cubicBezTo>
                  <a:pt x="137995" y="2651956"/>
                  <a:pt x="199068" y="2546330"/>
                  <a:pt x="262110" y="2437296"/>
                </a:cubicBezTo>
                <a:cubicBezTo>
                  <a:pt x="393108" y="2211072"/>
                  <a:pt x="628904" y="2071857"/>
                  <a:pt x="890899" y="2071857"/>
                </a:cubicBezTo>
                <a:close/>
                <a:moveTo>
                  <a:pt x="6355444" y="753840"/>
                </a:moveTo>
                <a:cubicBezTo>
                  <a:pt x="6355444" y="753840"/>
                  <a:pt x="6355444" y="753840"/>
                  <a:pt x="7595013" y="753840"/>
                </a:cubicBezTo>
                <a:cubicBezTo>
                  <a:pt x="7672653" y="753840"/>
                  <a:pt x="7747616" y="796518"/>
                  <a:pt x="7785098" y="865869"/>
                </a:cubicBezTo>
                <a:cubicBezTo>
                  <a:pt x="7785098" y="865869"/>
                  <a:pt x="7785098" y="865869"/>
                  <a:pt x="8406222" y="1935484"/>
                </a:cubicBezTo>
                <a:cubicBezTo>
                  <a:pt x="8446380" y="2002169"/>
                  <a:pt x="8446380" y="2087523"/>
                  <a:pt x="8406222" y="2154207"/>
                </a:cubicBezTo>
                <a:cubicBezTo>
                  <a:pt x="8406222" y="2154207"/>
                  <a:pt x="8406222" y="2154207"/>
                  <a:pt x="7785098" y="3223823"/>
                </a:cubicBezTo>
                <a:cubicBezTo>
                  <a:pt x="7747616" y="3293174"/>
                  <a:pt x="7672653" y="3335852"/>
                  <a:pt x="7595013" y="3335852"/>
                </a:cubicBezTo>
                <a:cubicBezTo>
                  <a:pt x="7595013" y="3335852"/>
                  <a:pt x="7595013" y="3335852"/>
                  <a:pt x="6355444" y="3335852"/>
                </a:cubicBezTo>
                <a:cubicBezTo>
                  <a:pt x="6275127" y="3335852"/>
                  <a:pt x="6202841" y="3293174"/>
                  <a:pt x="6162682" y="3223823"/>
                </a:cubicBezTo>
                <a:cubicBezTo>
                  <a:pt x="6162682" y="3223823"/>
                  <a:pt x="6162682" y="3223823"/>
                  <a:pt x="5544237" y="2154207"/>
                </a:cubicBezTo>
                <a:cubicBezTo>
                  <a:pt x="5504078" y="2087523"/>
                  <a:pt x="5504078" y="2002169"/>
                  <a:pt x="5544237" y="1935484"/>
                </a:cubicBezTo>
                <a:cubicBezTo>
                  <a:pt x="5544237" y="1935484"/>
                  <a:pt x="5544237" y="1935484"/>
                  <a:pt x="6162682" y="865869"/>
                </a:cubicBezTo>
                <a:cubicBezTo>
                  <a:pt x="6202841" y="796518"/>
                  <a:pt x="6275127" y="753840"/>
                  <a:pt x="6355444" y="753840"/>
                </a:cubicBezTo>
                <a:close/>
                <a:moveTo>
                  <a:pt x="0" y="0"/>
                </a:moveTo>
                <a:lnTo>
                  <a:pt x="6535339" y="0"/>
                </a:lnTo>
                <a:lnTo>
                  <a:pt x="6421432" y="196155"/>
                </a:lnTo>
                <a:cubicBezTo>
                  <a:pt x="6196056" y="584267"/>
                  <a:pt x="5928944" y="1044253"/>
                  <a:pt x="5612367" y="1589421"/>
                </a:cubicBezTo>
                <a:cubicBezTo>
                  <a:pt x="5490102" y="1815646"/>
                  <a:pt x="5245573" y="1954861"/>
                  <a:pt x="4992310" y="1954861"/>
                </a:cubicBezTo>
                <a:cubicBezTo>
                  <a:pt x="4992310" y="1954861"/>
                  <a:pt x="4992310" y="1954861"/>
                  <a:pt x="948847" y="1954861"/>
                </a:cubicBezTo>
                <a:cubicBezTo>
                  <a:pt x="686852" y="1954861"/>
                  <a:pt x="451057" y="1815646"/>
                  <a:pt x="320058" y="1589421"/>
                </a:cubicBezTo>
                <a:cubicBezTo>
                  <a:pt x="320058" y="1589421"/>
                  <a:pt x="320058" y="1589421"/>
                  <a:pt x="4048" y="1042874"/>
                </a:cubicBezTo>
                <a:lnTo>
                  <a:pt x="0" y="1035874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59094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DD2EAF-6A3B-4FC6-8E30-7CF8971FF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5400"/>
              <a:t>Data pre-processing</a:t>
            </a:r>
            <a:endParaRPr lang="en-IN" sz="5400"/>
          </a:p>
        </p:txBody>
      </p:sp>
      <p:sp>
        <p:nvSpPr>
          <p:cNvPr id="73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FEAE9A-07EC-4076-8F08-A5774B8DDE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r>
              <a:rPr lang="en-US" sz="2200"/>
              <a:t>The provided data is very unbalanced.</a:t>
            </a:r>
          </a:p>
          <a:p>
            <a:r>
              <a:rPr lang="en-US" sz="2200"/>
              <a:t>So, we are using this method for balancing the data</a:t>
            </a:r>
            <a:endParaRPr lang="en-IN" sz="2200"/>
          </a:p>
        </p:txBody>
      </p:sp>
      <p:pic>
        <p:nvPicPr>
          <p:cNvPr id="2050" name="Picture 2" descr="Data Preprocessing &amp; Feature Engineering in Machine Learning | by Paras  Patidar | DataDrivenInvestor">
            <a:extLst>
              <a:ext uri="{FF2B5EF4-FFF2-40B4-BE49-F238E27FC236}">
                <a16:creationId xmlns:a16="http://schemas.microsoft.com/office/drawing/2014/main" id="{13770B1E-1927-48E9-A375-3EFC55E5790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06" r="20610" b="2"/>
          <a:stretch/>
        </p:blipFill>
        <p:spPr bwMode="auto"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4365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4EF1B-8E7E-46C3-A6B6-BDB0E4B0E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4325"/>
            <a:ext cx="10515600" cy="1325563"/>
          </a:xfrm>
        </p:spPr>
        <p:txBody>
          <a:bodyPr/>
          <a:lstStyle/>
          <a:p>
            <a:r>
              <a:rPr lang="en-IN"/>
              <a:t>Data analysis</a:t>
            </a:r>
            <a:endParaRPr lang="en-IN" dirty="0"/>
          </a:p>
        </p:txBody>
      </p:sp>
      <p:graphicFrame>
        <p:nvGraphicFramePr>
          <p:cNvPr id="3076" name="Content Placeholder 2">
            <a:extLst>
              <a:ext uri="{FF2B5EF4-FFF2-40B4-BE49-F238E27FC236}">
                <a16:creationId xmlns:a16="http://schemas.microsoft.com/office/drawing/2014/main" id="{DBEA3162-DE12-53B1-256D-C56F8E2252C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074" name="Picture 2" descr="How to do Exploratory Data Analysis before building Machine Learning  models? | Analytics Steps">
            <a:extLst>
              <a:ext uri="{FF2B5EF4-FFF2-40B4-BE49-F238E27FC236}">
                <a16:creationId xmlns:a16="http://schemas.microsoft.com/office/drawing/2014/main" id="{34672F39-FF84-4C1C-8627-27AAEFFB66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2950" y="2690813"/>
            <a:ext cx="3086100" cy="1476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03969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134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EFB2F2-607C-4426-BACB-C5AB61840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321734"/>
            <a:ext cx="10905066" cy="1135737"/>
          </a:xfrm>
        </p:spPr>
        <p:txBody>
          <a:bodyPr>
            <a:normAutofit/>
          </a:bodyPr>
          <a:lstStyle/>
          <a:p>
            <a:r>
              <a:rPr lang="en-IN" sz="3600"/>
              <a:t>Train – test  split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F26CB1-0BE9-4F87-B056-81AA564410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9" y="1782981"/>
            <a:ext cx="4008384" cy="4393982"/>
          </a:xfrm>
        </p:spPr>
        <p:txBody>
          <a:bodyPr>
            <a:normAutofit/>
          </a:bodyPr>
          <a:lstStyle/>
          <a:p>
            <a:r>
              <a:rPr lang="en-IN" sz="2000" dirty="0"/>
              <a:t>It split data into training and testing data</a:t>
            </a:r>
          </a:p>
          <a:p>
            <a:r>
              <a:rPr lang="en-IN" sz="2000" dirty="0"/>
              <a:t>Feed this training to our machine learning model and evaluate model by testing</a:t>
            </a:r>
          </a:p>
        </p:txBody>
      </p:sp>
      <p:grpSp>
        <p:nvGrpSpPr>
          <p:cNvPr id="4101" name="Group 136">
            <a:extLst>
              <a:ext uri="{FF2B5EF4-FFF2-40B4-BE49-F238E27FC236}">
                <a16:creationId xmlns:a16="http://schemas.microsoft.com/office/drawing/2014/main" id="{828A5161-06F1-46CF-8AD7-844680A59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4601497"/>
            <a:ext cx="1014060" cy="2017580"/>
            <a:chOff x="0" y="4601497"/>
            <a:chExt cx="1014060" cy="2017580"/>
          </a:xfrm>
        </p:grpSpPr>
        <p:sp>
          <p:nvSpPr>
            <p:cNvPr id="138" name="Isosceles Triangle 137">
              <a:extLst>
                <a:ext uri="{FF2B5EF4-FFF2-40B4-BE49-F238E27FC236}">
                  <a16:creationId xmlns:a16="http://schemas.microsoft.com/office/drawing/2014/main" id="{D3F51FEB-38FB-4F6C-9F7B-2F2AFAB654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-501760" y="5103257"/>
              <a:ext cx="2017580" cy="1014060"/>
            </a:xfrm>
            <a:prstGeom prst="triangle">
              <a:avLst>
                <a:gd name="adj" fmla="val 50000"/>
              </a:avLst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02" name="Rectangle 138">
              <a:extLst>
                <a:ext uri="{FF2B5EF4-FFF2-40B4-BE49-F238E27FC236}">
                  <a16:creationId xmlns:a16="http://schemas.microsoft.com/office/drawing/2014/main" id="{1E547BA6-BAE0-43BB-A7CA-60F69CE252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427916" y="572870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4098" name="Picture 2" descr="Splitting a dataset. Here I explain how to split your data… | by Nischal  Madiraju | Towards Data Science">
            <a:extLst>
              <a:ext uri="{FF2B5EF4-FFF2-40B4-BE49-F238E27FC236}">
                <a16:creationId xmlns:a16="http://schemas.microsoft.com/office/drawing/2014/main" id="{C6BB80A2-2664-4E67-89DD-B47131F938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295320" y="2602934"/>
            <a:ext cx="6253212" cy="27219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103" name="Group 140">
            <a:extLst>
              <a:ext uri="{FF2B5EF4-FFF2-40B4-BE49-F238E27FC236}">
                <a16:creationId xmlns:a16="http://schemas.microsoft.com/office/drawing/2014/main" id="{5995D10D-E9C9-47DB-AE7E-801FEF38F5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19290" y="1"/>
            <a:ext cx="972709" cy="1935307"/>
            <a:chOff x="10918968" y="713127"/>
            <a:chExt cx="1273032" cy="2532832"/>
          </a:xfrm>
        </p:grpSpPr>
        <p:sp>
          <p:nvSpPr>
            <p:cNvPr id="4104" name="Rectangle 141">
              <a:extLst>
                <a:ext uri="{FF2B5EF4-FFF2-40B4-BE49-F238E27FC236}">
                  <a16:creationId xmlns:a16="http://schemas.microsoft.com/office/drawing/2014/main" id="{CC1A72C6-3DE4-4EC3-9AD5-9E0D40D8CE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11052629" y="2120024"/>
              <a:ext cx="645368" cy="645368"/>
            </a:xfrm>
            <a:prstGeom prst="rect">
              <a:avLst/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05" name="Isosceles Triangle 142">
              <a:extLst>
                <a:ext uri="{FF2B5EF4-FFF2-40B4-BE49-F238E27FC236}">
                  <a16:creationId xmlns:a16="http://schemas.microsoft.com/office/drawing/2014/main" id="{0B0DA1F1-C391-4EDF-9FE0-23E86E1377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289068" y="1343027"/>
              <a:ext cx="2532832" cy="1273032"/>
            </a:xfrm>
            <a:prstGeom prst="triangle">
              <a:avLst>
                <a:gd name="adj" fmla="val 50000"/>
              </a:avLst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9886874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91F32EBA-ED97-466E-8CFA-8382584155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83A842-557C-4088-8877-8088380CB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199" y="851517"/>
            <a:ext cx="5130795" cy="1461778"/>
          </a:xfrm>
        </p:spPr>
        <p:txBody>
          <a:bodyPr>
            <a:normAutofit/>
          </a:bodyPr>
          <a:lstStyle/>
          <a:p>
            <a:r>
              <a:rPr lang="en-IN" sz="4000"/>
              <a:t>Logistic regression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2B7403-6FD4-4EF2-8981-A431EEF2FA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5200" y="2470248"/>
            <a:ext cx="4048344" cy="3536236"/>
          </a:xfrm>
        </p:spPr>
        <p:txBody>
          <a:bodyPr>
            <a:normAutofit/>
          </a:bodyPr>
          <a:lstStyle/>
          <a:p>
            <a:r>
              <a:rPr lang="en-IN" sz="2400"/>
              <a:t>This is a binary classification model.</a:t>
            </a:r>
          </a:p>
          <a:p>
            <a:r>
              <a:rPr lang="en-IN" sz="2400"/>
              <a:t>We feed training data into logistic regression.</a:t>
            </a:r>
          </a:p>
          <a:p>
            <a:r>
              <a:rPr lang="en-IN" sz="2400"/>
              <a:t>In this we will predict particular transaction is legit or fraud.</a:t>
            </a:r>
          </a:p>
          <a:p>
            <a:endParaRPr lang="en-IN" sz="2400"/>
          </a:p>
          <a:p>
            <a:endParaRPr lang="en-IN" sz="2400"/>
          </a:p>
        </p:txBody>
      </p:sp>
      <p:sp>
        <p:nvSpPr>
          <p:cNvPr id="73" name="Freeform: Shape 72">
            <a:extLst>
              <a:ext uri="{FF2B5EF4-FFF2-40B4-BE49-F238E27FC236}">
                <a16:creationId xmlns:a16="http://schemas.microsoft.com/office/drawing/2014/main" id="{62A38935-BB53-4DF7-A56E-48DD25B685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10370" y="851518"/>
            <a:ext cx="6184806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1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4 h 5154967"/>
              <a:gd name="connsiteX37" fmla="*/ 1625714 w 6184806"/>
              <a:gd name="connsiteY37" fmla="*/ 109244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1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1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4"/>
                  <a:pt x="2445216" y="109244"/>
                </a:cubicBezTo>
                <a:cubicBezTo>
                  <a:pt x="1625714" y="109244"/>
                  <a:pt x="1625714" y="109244"/>
                  <a:pt x="1625714" y="109244"/>
                </a:cubicBezTo>
                <a:cubicBezTo>
                  <a:pt x="1572615" y="109244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8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1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122" name="Picture 2" descr="Logistic Regression in Machine Learning » AI Next Generation">
            <a:extLst>
              <a:ext uri="{FF2B5EF4-FFF2-40B4-BE49-F238E27FC236}">
                <a16:creationId xmlns:a16="http://schemas.microsoft.com/office/drawing/2014/main" id="{8A56EFCA-BFE7-40EE-A62C-24970DF28A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535330" y="2402653"/>
            <a:ext cx="3217333" cy="2622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09647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Freeform 5">
            <a:extLst>
              <a:ext uri="{FF2B5EF4-FFF2-40B4-BE49-F238E27FC236}">
                <a16:creationId xmlns:a16="http://schemas.microsoft.com/office/drawing/2014/main" id="{07322A9E-F1EC-405E-8971-BA906EFFCC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-329674" y="1290909"/>
            <a:ext cx="9702800" cy="5573512"/>
          </a:xfrm>
          <a:custGeom>
            <a:avLst/>
            <a:gdLst>
              <a:gd name="T0" fmla="*/ 1752 w 2038"/>
              <a:gd name="T1" fmla="*/ 1169 h 1169"/>
              <a:gd name="T2" fmla="*/ 1487 w 2038"/>
              <a:gd name="T3" fmla="*/ 334 h 1169"/>
              <a:gd name="T4" fmla="*/ 860 w 2038"/>
              <a:gd name="T5" fmla="*/ 22 h 1169"/>
              <a:gd name="T6" fmla="*/ 199 w 2038"/>
              <a:gd name="T7" fmla="*/ 318 h 1169"/>
              <a:gd name="T8" fmla="*/ 399 w 2038"/>
              <a:gd name="T9" fmla="*/ 1165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38" h="1169">
                <a:moveTo>
                  <a:pt x="1752" y="1169"/>
                </a:moveTo>
                <a:cubicBezTo>
                  <a:pt x="2038" y="928"/>
                  <a:pt x="1673" y="513"/>
                  <a:pt x="1487" y="334"/>
                </a:cubicBezTo>
                <a:cubicBezTo>
                  <a:pt x="1316" y="170"/>
                  <a:pt x="1099" y="43"/>
                  <a:pt x="860" y="22"/>
                </a:cubicBezTo>
                <a:cubicBezTo>
                  <a:pt x="621" y="0"/>
                  <a:pt x="341" y="128"/>
                  <a:pt x="199" y="318"/>
                </a:cubicBezTo>
                <a:cubicBezTo>
                  <a:pt x="0" y="586"/>
                  <a:pt x="184" y="965"/>
                  <a:pt x="399" y="1165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3" name="Freeform 6">
            <a:extLst>
              <a:ext uri="{FF2B5EF4-FFF2-40B4-BE49-F238E27FC236}">
                <a16:creationId xmlns:a16="http://schemas.microsoft.com/office/drawing/2014/main" id="{A5704422-1118-4FD1-95AD-29A064EB8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70451" y="2010741"/>
            <a:ext cx="7373938" cy="4848892"/>
          </a:xfrm>
          <a:custGeom>
            <a:avLst/>
            <a:gdLst>
              <a:gd name="T0" fmla="*/ 1025 w 1549"/>
              <a:gd name="T1" fmla="*/ 1016 h 1017"/>
              <a:gd name="T2" fmla="*/ 1443 w 1549"/>
              <a:gd name="T3" fmla="*/ 592 h 1017"/>
              <a:gd name="T4" fmla="*/ 782 w 1549"/>
              <a:gd name="T5" fmla="*/ 53 h 1017"/>
              <a:gd name="T6" fmla="*/ 150 w 1549"/>
              <a:gd name="T7" fmla="*/ 329 h 1017"/>
              <a:gd name="T8" fmla="*/ 477 w 1549"/>
              <a:gd name="T9" fmla="*/ 1017 h 10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549" h="1017">
                <a:moveTo>
                  <a:pt x="1025" y="1016"/>
                </a:moveTo>
                <a:cubicBezTo>
                  <a:pt x="1223" y="971"/>
                  <a:pt x="1549" y="857"/>
                  <a:pt x="1443" y="592"/>
                </a:cubicBezTo>
                <a:cubicBezTo>
                  <a:pt x="1344" y="344"/>
                  <a:pt x="1041" y="111"/>
                  <a:pt x="782" y="53"/>
                </a:cubicBezTo>
                <a:cubicBezTo>
                  <a:pt x="545" y="0"/>
                  <a:pt x="275" y="117"/>
                  <a:pt x="150" y="329"/>
                </a:cubicBezTo>
                <a:cubicBezTo>
                  <a:pt x="0" y="584"/>
                  <a:pt x="243" y="911"/>
                  <a:pt x="477" y="1017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5" name="Freeform 7">
            <a:extLst>
              <a:ext uri="{FF2B5EF4-FFF2-40B4-BE49-F238E27FC236}">
                <a16:creationId xmlns:a16="http://schemas.microsoft.com/office/drawing/2014/main" id="{A88B2AAA-B805-498E-A9E6-98B88585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251351" y="1780905"/>
            <a:ext cx="8035925" cy="5083516"/>
          </a:xfrm>
          <a:custGeom>
            <a:avLst/>
            <a:gdLst>
              <a:gd name="T0" fmla="*/ 1302 w 1688"/>
              <a:gd name="T1" fmla="*/ 1066 h 1066"/>
              <a:gd name="T2" fmla="*/ 1613 w 1688"/>
              <a:gd name="T3" fmla="*/ 850 h 1066"/>
              <a:gd name="T4" fmla="*/ 1517 w 1688"/>
              <a:gd name="T5" fmla="*/ 471 h 1066"/>
              <a:gd name="T6" fmla="*/ 798 w 1688"/>
              <a:gd name="T7" fmla="*/ 28 h 1066"/>
              <a:gd name="T8" fmla="*/ 181 w 1688"/>
              <a:gd name="T9" fmla="*/ 333 h 1066"/>
              <a:gd name="T10" fmla="*/ 420 w 1688"/>
              <a:gd name="T11" fmla="*/ 1066 h 10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688" h="1066">
                <a:moveTo>
                  <a:pt x="1302" y="1066"/>
                </a:moveTo>
                <a:cubicBezTo>
                  <a:pt x="1416" y="1024"/>
                  <a:pt x="1551" y="962"/>
                  <a:pt x="1613" y="850"/>
                </a:cubicBezTo>
                <a:cubicBezTo>
                  <a:pt x="1688" y="715"/>
                  <a:pt x="1606" y="575"/>
                  <a:pt x="1517" y="471"/>
                </a:cubicBezTo>
                <a:cubicBezTo>
                  <a:pt x="1336" y="258"/>
                  <a:pt x="1084" y="62"/>
                  <a:pt x="798" y="28"/>
                </a:cubicBezTo>
                <a:cubicBezTo>
                  <a:pt x="559" y="0"/>
                  <a:pt x="317" y="138"/>
                  <a:pt x="181" y="333"/>
                </a:cubicBezTo>
                <a:cubicBezTo>
                  <a:pt x="0" y="592"/>
                  <a:pt x="191" y="907"/>
                  <a:pt x="420" y="1066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7" name="Freeform 8">
            <a:extLst>
              <a:ext uri="{FF2B5EF4-FFF2-40B4-BE49-F238E27FC236}">
                <a16:creationId xmlns:a16="http://schemas.microsoft.com/office/drawing/2014/main" id="{9B8051E0-19D7-43E1-BFD9-E6DBFEB3A3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-1061" y="542347"/>
            <a:ext cx="10334625" cy="6322075"/>
          </a:xfrm>
          <a:custGeom>
            <a:avLst/>
            <a:gdLst>
              <a:gd name="T0" fmla="*/ 1873 w 2171"/>
              <a:gd name="T1" fmla="*/ 1326 h 1326"/>
              <a:gd name="T2" fmla="*/ 1609 w 2171"/>
              <a:gd name="T3" fmla="*/ 473 h 1326"/>
              <a:gd name="T4" fmla="*/ 880 w 2171"/>
              <a:gd name="T5" fmla="*/ 63 h 1326"/>
              <a:gd name="T6" fmla="*/ 0 w 2171"/>
              <a:gd name="T7" fmla="*/ 423 h 13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71" h="1326">
                <a:moveTo>
                  <a:pt x="1873" y="1326"/>
                </a:moveTo>
                <a:cubicBezTo>
                  <a:pt x="2171" y="1045"/>
                  <a:pt x="1825" y="678"/>
                  <a:pt x="1609" y="473"/>
                </a:cubicBezTo>
                <a:cubicBezTo>
                  <a:pt x="1406" y="281"/>
                  <a:pt x="1159" y="116"/>
                  <a:pt x="880" y="63"/>
                </a:cubicBezTo>
                <a:cubicBezTo>
                  <a:pt x="545" y="0"/>
                  <a:pt x="214" y="161"/>
                  <a:pt x="0" y="423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9" name="Freeform 9">
            <a:extLst>
              <a:ext uri="{FF2B5EF4-FFF2-40B4-BE49-F238E27FC236}">
                <a16:creationId xmlns:a16="http://schemas.microsoft.com/office/drawing/2014/main" id="{4EDB2B02-86A2-46F5-A4BE-B7D9B10411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3701" y="6178751"/>
            <a:ext cx="504825" cy="681527"/>
          </a:xfrm>
          <a:custGeom>
            <a:avLst/>
            <a:gdLst>
              <a:gd name="T0" fmla="*/ 0 w 106"/>
              <a:gd name="T1" fmla="*/ 0 h 143"/>
              <a:gd name="T2" fmla="*/ 106 w 106"/>
              <a:gd name="T3" fmla="*/ 143 h 143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06" h="143">
                <a:moveTo>
                  <a:pt x="0" y="0"/>
                </a:moveTo>
                <a:cubicBezTo>
                  <a:pt x="35" y="54"/>
                  <a:pt x="70" y="101"/>
                  <a:pt x="106" y="143"/>
                </a:cubicBezTo>
              </a:path>
            </a:pathLst>
          </a:custGeom>
          <a:noFill/>
          <a:ln w="4763" cap="flat">
            <a:solidFill>
              <a:schemeClr val="tx1">
                <a:alpha val="2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1" name="Freeform 10">
            <a:extLst>
              <a:ext uri="{FF2B5EF4-FFF2-40B4-BE49-F238E27FC236}">
                <a16:creationId xmlns:a16="http://schemas.microsoft.com/office/drawing/2014/main" id="{43954639-FB5D-41F4-9560-6F6DFE7784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-1061" y="-59376"/>
            <a:ext cx="11091863" cy="6923796"/>
          </a:xfrm>
          <a:custGeom>
            <a:avLst/>
            <a:gdLst>
              <a:gd name="T0" fmla="*/ 2046 w 2330"/>
              <a:gd name="T1" fmla="*/ 1452 h 1452"/>
              <a:gd name="T2" fmla="*/ 1813 w 2330"/>
              <a:gd name="T3" fmla="*/ 601 h 1452"/>
              <a:gd name="T4" fmla="*/ 956 w 2330"/>
              <a:gd name="T5" fmla="*/ 97 h 1452"/>
              <a:gd name="T6" fmla="*/ 0 w 2330"/>
              <a:gd name="T7" fmla="*/ 366 h 14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330" h="1452">
                <a:moveTo>
                  <a:pt x="2046" y="1452"/>
                </a:moveTo>
                <a:cubicBezTo>
                  <a:pt x="2330" y="1153"/>
                  <a:pt x="2049" y="821"/>
                  <a:pt x="1813" y="601"/>
                </a:cubicBezTo>
                <a:cubicBezTo>
                  <a:pt x="1569" y="375"/>
                  <a:pt x="1282" y="179"/>
                  <a:pt x="956" y="97"/>
                </a:cubicBezTo>
                <a:cubicBezTo>
                  <a:pt x="572" y="0"/>
                  <a:pt x="292" y="101"/>
                  <a:pt x="0" y="366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3" name="Freeform 12">
            <a:extLst>
              <a:ext uri="{FF2B5EF4-FFF2-40B4-BE49-F238E27FC236}">
                <a16:creationId xmlns:a16="http://schemas.microsoft.com/office/drawing/2014/main" id="{E898931C-0323-41FA-A036-20F818B1FF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-1061" y="-1916"/>
            <a:ext cx="1057275" cy="614491"/>
          </a:xfrm>
          <a:custGeom>
            <a:avLst/>
            <a:gdLst>
              <a:gd name="T0" fmla="*/ 222 w 222"/>
              <a:gd name="T1" fmla="*/ 0 h 129"/>
              <a:gd name="T2" fmla="*/ 0 w 222"/>
              <a:gd name="T3" fmla="*/ 129 h 129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22" h="129">
                <a:moveTo>
                  <a:pt x="222" y="0"/>
                </a:moveTo>
                <a:cubicBezTo>
                  <a:pt x="152" y="35"/>
                  <a:pt x="76" y="78"/>
                  <a:pt x="0" y="129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5" name="Freeform 14">
            <a:extLst>
              <a:ext uri="{FF2B5EF4-FFF2-40B4-BE49-F238E27FC236}">
                <a16:creationId xmlns:a16="http://schemas.microsoft.com/office/drawing/2014/main" id="{89AFE9DD-0792-4B98-B4EB-97ACA17E6A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3701" y="-6705"/>
            <a:ext cx="595313" cy="352734"/>
          </a:xfrm>
          <a:custGeom>
            <a:avLst/>
            <a:gdLst>
              <a:gd name="T0" fmla="*/ 125 w 125"/>
              <a:gd name="T1" fmla="*/ 0 h 74"/>
              <a:gd name="T2" fmla="*/ 0 w 125"/>
              <a:gd name="T3" fmla="*/ 74 h 74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25" h="74">
                <a:moveTo>
                  <a:pt x="125" y="0"/>
                </a:moveTo>
                <a:cubicBezTo>
                  <a:pt x="85" y="22"/>
                  <a:pt x="43" y="47"/>
                  <a:pt x="0" y="74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7" name="Freeform 16">
            <a:extLst>
              <a:ext uri="{FF2B5EF4-FFF2-40B4-BE49-F238E27FC236}">
                <a16:creationId xmlns:a16="http://schemas.microsoft.com/office/drawing/2014/main" id="{3981F5C4-9AE1-404E-AF44-A4E6DB374F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-1061" y="-1916"/>
            <a:ext cx="357188" cy="213875"/>
          </a:xfrm>
          <a:custGeom>
            <a:avLst/>
            <a:gdLst>
              <a:gd name="T0" fmla="*/ 75 w 75"/>
              <a:gd name="T1" fmla="*/ 0 h 45"/>
              <a:gd name="T2" fmla="*/ 0 w 75"/>
              <a:gd name="T3" fmla="*/ 45 h 45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75" h="45">
                <a:moveTo>
                  <a:pt x="75" y="0"/>
                </a:moveTo>
                <a:cubicBezTo>
                  <a:pt x="50" y="14"/>
                  <a:pt x="25" y="29"/>
                  <a:pt x="0" y="45"/>
                </a:cubicBezTo>
              </a:path>
            </a:pathLst>
          </a:custGeom>
          <a:noFill/>
          <a:ln w="12700" cap="flat">
            <a:solidFill>
              <a:schemeClr val="tx1">
                <a:alpha val="20000"/>
              </a:schemeClr>
            </a:solidFill>
            <a:prstDash val="dash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9" name="Freeform 11">
            <a:extLst>
              <a:ext uri="{FF2B5EF4-FFF2-40B4-BE49-F238E27FC236}">
                <a16:creationId xmlns:a16="http://schemas.microsoft.com/office/drawing/2014/main" id="{763C1781-8726-4FAC-8C45-FF40376BE4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5426601" y="-1916"/>
            <a:ext cx="5788025" cy="6847184"/>
          </a:xfrm>
          <a:custGeom>
            <a:avLst/>
            <a:gdLst>
              <a:gd name="T0" fmla="*/ 1094 w 1216"/>
              <a:gd name="T1" fmla="*/ 1436 h 1436"/>
              <a:gd name="T2" fmla="*/ 709 w 1216"/>
              <a:gd name="T3" fmla="*/ 551 h 1436"/>
              <a:gd name="T4" fmla="*/ 0 w 1216"/>
              <a:gd name="T5" fmla="*/ 0 h 14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216" h="1436">
                <a:moveTo>
                  <a:pt x="1094" y="1436"/>
                </a:moveTo>
                <a:cubicBezTo>
                  <a:pt x="1216" y="1114"/>
                  <a:pt x="904" y="770"/>
                  <a:pt x="709" y="551"/>
                </a:cubicBezTo>
                <a:cubicBezTo>
                  <a:pt x="509" y="327"/>
                  <a:pt x="274" y="127"/>
                  <a:pt x="0" y="0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1" name="Freeform 21">
            <a:extLst>
              <a:ext uri="{FF2B5EF4-FFF2-40B4-BE49-F238E27FC236}">
                <a16:creationId xmlns:a16="http://schemas.microsoft.com/office/drawing/2014/main" id="{301491B5-56C7-43DC-A3D9-861EECCA05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9235014" y="2872"/>
            <a:ext cx="2951163" cy="2555325"/>
          </a:xfrm>
          <a:custGeom>
            <a:avLst/>
            <a:gdLst>
              <a:gd name="T0" fmla="*/ 620 w 620"/>
              <a:gd name="T1" fmla="*/ 536 h 536"/>
              <a:gd name="T2" fmla="*/ 0 w 620"/>
              <a:gd name="T3" fmla="*/ 0 h 536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620" h="536">
                <a:moveTo>
                  <a:pt x="620" y="536"/>
                </a:moveTo>
                <a:cubicBezTo>
                  <a:pt x="404" y="314"/>
                  <a:pt x="196" y="138"/>
                  <a:pt x="0" y="0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AAEC0F-E452-4E32-8988-42E9EC85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2248" y="1481328"/>
            <a:ext cx="2926080" cy="246888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/>
              <a:t>Evaluation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677064-0772-48E2-9937-720F86A7F5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2248" y="4078224"/>
            <a:ext cx="2926080" cy="1307592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000"/>
              <a:t>We use the testing data to check the performance of our model.</a:t>
            </a:r>
          </a:p>
        </p:txBody>
      </p:sp>
      <p:sp>
        <p:nvSpPr>
          <p:cNvPr id="93" name="Freeform 22">
            <a:extLst>
              <a:ext uri="{FF2B5EF4-FFF2-40B4-BE49-F238E27FC236}">
                <a16:creationId xmlns:a16="http://schemas.microsoft.com/office/drawing/2014/main" id="{237E2353-22DF-46E0-A200-FB30F8F394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0020826" y="-1916"/>
            <a:ext cx="2165350" cy="1358265"/>
          </a:xfrm>
          <a:custGeom>
            <a:avLst/>
            <a:gdLst>
              <a:gd name="T0" fmla="*/ 0 w 455"/>
              <a:gd name="T1" fmla="*/ 0 h 285"/>
              <a:gd name="T2" fmla="*/ 455 w 455"/>
              <a:gd name="T3" fmla="*/ 285 h 285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455" h="285">
                <a:moveTo>
                  <a:pt x="0" y="0"/>
                </a:moveTo>
                <a:cubicBezTo>
                  <a:pt x="153" y="85"/>
                  <a:pt x="308" y="180"/>
                  <a:pt x="455" y="285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5" name="Freeform 23">
            <a:extLst>
              <a:ext uri="{FF2B5EF4-FFF2-40B4-BE49-F238E27FC236}">
                <a16:creationId xmlns:a16="http://schemas.microsoft.com/office/drawing/2014/main" id="{DD6138DB-057B-45F7-A5F4-E7BFDA20D0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290826" y="-1916"/>
            <a:ext cx="895350" cy="534687"/>
          </a:xfrm>
          <a:custGeom>
            <a:avLst/>
            <a:gdLst>
              <a:gd name="T0" fmla="*/ 0 w 188"/>
              <a:gd name="T1" fmla="*/ 0 h 112"/>
              <a:gd name="T2" fmla="*/ 188 w 188"/>
              <a:gd name="T3" fmla="*/ 112 h 112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88" h="112">
                <a:moveTo>
                  <a:pt x="0" y="0"/>
                </a:moveTo>
                <a:cubicBezTo>
                  <a:pt x="63" y="36"/>
                  <a:pt x="126" y="73"/>
                  <a:pt x="188" y="112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7" name="Freeform: Shape 96">
            <a:extLst>
              <a:ext uri="{FF2B5EF4-FFF2-40B4-BE49-F238E27FC236}">
                <a16:creationId xmlns:a16="http://schemas.microsoft.com/office/drawing/2014/main" id="{79A54AB1-B64F-4843-BFAB-81CB74E66B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31529">
            <a:off x="752078" y="2218040"/>
            <a:ext cx="4418757" cy="4259609"/>
          </a:xfrm>
          <a:custGeom>
            <a:avLst/>
            <a:gdLst>
              <a:gd name="connsiteX0" fmla="*/ 404107 w 4507111"/>
              <a:gd name="connsiteY0" fmla="*/ 0 h 4344781"/>
              <a:gd name="connsiteX1" fmla="*/ 371857 w 4507111"/>
              <a:gd name="connsiteY1" fmla="*/ 117359 h 4344781"/>
              <a:gd name="connsiteX2" fmla="*/ 307833 w 4507111"/>
              <a:gd name="connsiteY2" fmla="*/ 632970 h 4344781"/>
              <a:gd name="connsiteX3" fmla="*/ 3569418 w 4507111"/>
              <a:gd name="connsiteY3" fmla="*/ 4141149 h 4344781"/>
              <a:gd name="connsiteX4" fmla="*/ 4440861 w 4507111"/>
              <a:gd name="connsiteY4" fmla="*/ 4332480 h 4344781"/>
              <a:gd name="connsiteX5" fmla="*/ 4507111 w 4507111"/>
              <a:gd name="connsiteY5" fmla="*/ 4341752 h 4344781"/>
              <a:gd name="connsiteX6" fmla="*/ 4296045 w 4507111"/>
              <a:gd name="connsiteY6" fmla="*/ 4344781 h 4344781"/>
              <a:gd name="connsiteX7" fmla="*/ 3749565 w 4507111"/>
              <a:gd name="connsiteY7" fmla="*/ 4321853 h 4344781"/>
              <a:gd name="connsiteX8" fmla="*/ 36764 w 4507111"/>
              <a:gd name="connsiteY8" fmla="*/ 1629794 h 4344781"/>
              <a:gd name="connsiteX9" fmla="*/ 300069 w 4507111"/>
              <a:gd name="connsiteY9" fmla="*/ 144750 h 43447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507111" h="4344781">
                <a:moveTo>
                  <a:pt x="404107" y="0"/>
                </a:moveTo>
                <a:lnTo>
                  <a:pt x="371857" y="117359"/>
                </a:lnTo>
                <a:cubicBezTo>
                  <a:pt x="333827" y="278567"/>
                  <a:pt x="311875" y="450459"/>
                  <a:pt x="307833" y="632970"/>
                </a:cubicBezTo>
                <a:cubicBezTo>
                  <a:pt x="264711" y="2579752"/>
                  <a:pt x="2253987" y="3769243"/>
                  <a:pt x="3569418" y="4141149"/>
                </a:cubicBezTo>
                <a:cubicBezTo>
                  <a:pt x="3816061" y="4210881"/>
                  <a:pt x="4114807" y="4279754"/>
                  <a:pt x="4440861" y="4332480"/>
                </a:cubicBezTo>
                <a:lnTo>
                  <a:pt x="4507111" y="4341752"/>
                </a:lnTo>
                <a:lnTo>
                  <a:pt x="4296045" y="4344781"/>
                </a:lnTo>
                <a:cubicBezTo>
                  <a:pt x="4097363" y="4343711"/>
                  <a:pt x="3912623" y="4335104"/>
                  <a:pt x="3749565" y="4321853"/>
                </a:cubicBezTo>
                <a:cubicBezTo>
                  <a:pt x="2445102" y="4215850"/>
                  <a:pt x="356405" y="3466499"/>
                  <a:pt x="36764" y="1629794"/>
                </a:cubicBezTo>
                <a:cubicBezTo>
                  <a:pt x="-63123" y="1055823"/>
                  <a:pt x="45741" y="555869"/>
                  <a:pt x="300069" y="144750"/>
                </a:cubicBezTo>
                <a:close/>
              </a:path>
            </a:pathLst>
          </a:cu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" panose="02060603020205020403"/>
              <a:ea typeface="+mn-ea"/>
              <a:cs typeface="+mn-cs"/>
            </a:endParaRPr>
          </a:p>
        </p:txBody>
      </p:sp>
      <p:pic>
        <p:nvPicPr>
          <p:cNvPr id="6146" name="Picture 2" descr="How to write your IA evaluation | IB Psychology">
            <a:extLst>
              <a:ext uri="{FF2B5EF4-FFF2-40B4-BE49-F238E27FC236}">
                <a16:creationId xmlns:a16="http://schemas.microsoft.com/office/drawing/2014/main" id="{04001B1E-4FAF-4456-9AE3-D2D54AB14ED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8100"/>
          <a:stretch/>
        </p:blipFill>
        <p:spPr bwMode="auto">
          <a:xfrm>
            <a:off x="921910" y="465243"/>
            <a:ext cx="7761924" cy="5343065"/>
          </a:xfrm>
          <a:custGeom>
            <a:avLst/>
            <a:gdLst/>
            <a:ahLst/>
            <a:cxnLst/>
            <a:rect l="l" t="t" r="r" b="b"/>
            <a:pathLst>
              <a:path w="7761924" h="5343065">
                <a:moveTo>
                  <a:pt x="3025687" y="76"/>
                </a:moveTo>
                <a:cubicBezTo>
                  <a:pt x="3140786" y="756"/>
                  <a:pt x="3256631" y="6055"/>
                  <a:pt x="3372722" y="16088"/>
                </a:cubicBezTo>
                <a:cubicBezTo>
                  <a:pt x="5230178" y="176616"/>
                  <a:pt x="7761924" y="1424594"/>
                  <a:pt x="7761924" y="3316816"/>
                </a:cubicBezTo>
                <a:cubicBezTo>
                  <a:pt x="7646022" y="5237647"/>
                  <a:pt x="4988715" y="5423921"/>
                  <a:pt x="3701109" y="5320611"/>
                </a:cubicBezTo>
                <a:cubicBezTo>
                  <a:pt x="2413504" y="5217301"/>
                  <a:pt x="351800" y="4486992"/>
                  <a:pt x="36290" y="2696959"/>
                </a:cubicBezTo>
                <a:cubicBezTo>
                  <a:pt x="-259500" y="1018804"/>
                  <a:pt x="1299198" y="-10133"/>
                  <a:pt x="3025687" y="76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6059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88C29C2933BD94CA182A57B174C1E22" ma:contentTypeVersion="2" ma:contentTypeDescription="Create a new document." ma:contentTypeScope="" ma:versionID="d0e44d1a04e48d350df122a05d74d153">
  <xsd:schema xmlns:xsd="http://www.w3.org/2001/XMLSchema" xmlns:xs="http://www.w3.org/2001/XMLSchema" xmlns:p="http://schemas.microsoft.com/office/2006/metadata/properties" xmlns:ns3="26f0f605-2db1-4ee3-b93b-cb1321289d63" targetNamespace="http://schemas.microsoft.com/office/2006/metadata/properties" ma:root="true" ma:fieldsID="792186809cdf3cf21a4be9ce4fdbb331" ns3:_="">
    <xsd:import namespace="26f0f605-2db1-4ee3-b93b-cb1321289d63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6f0f605-2db1-4ee3-b93b-cb1321289d6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546E847-2D24-4453-9750-21212C62BF3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6f0f605-2db1-4ee3-b93b-cb1321289d6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2462CC8-DEF6-4291-9393-14419293368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F6B8AEF-A811-4839-B0B4-92423637D3BF}">
  <ds:schemaRefs>
    <ds:schemaRef ds:uri="http://purl.org/dc/terms/"/>
    <ds:schemaRef ds:uri="http://purl.org/dc/elements/1.1/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http://purl.org/dc/dcmitype/"/>
    <ds:schemaRef ds:uri="http://schemas.microsoft.com/office/2006/documentManagement/types"/>
    <ds:schemaRef ds:uri="http://schemas.openxmlformats.org/package/2006/metadata/core-properties"/>
    <ds:schemaRef ds:uri="26f0f605-2db1-4ee3-b93b-cb1321289d63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118</Words>
  <Application>Microsoft Office PowerPoint</Application>
  <PresentationFormat>Widescreen</PresentationFormat>
  <Paragraphs>17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Rockwell</vt:lpstr>
      <vt:lpstr>Office Theme</vt:lpstr>
      <vt:lpstr>Credit card data  </vt:lpstr>
      <vt:lpstr>Data pre-processing</vt:lpstr>
      <vt:lpstr>Data analysis</vt:lpstr>
      <vt:lpstr>Train – test  split</vt:lpstr>
      <vt:lpstr>Logistic regression </vt:lpstr>
      <vt:lpstr>Evaluation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Credit card data</dc:title>
  <dc:creator>Pavan Kancharla</dc:creator>
  <cp:lastModifiedBy>Pavan Kancharla</cp:lastModifiedBy>
  <cp:revision>2</cp:revision>
  <dcterms:created xsi:type="dcterms:W3CDTF">2022-04-25T19:42:22Z</dcterms:created>
  <dcterms:modified xsi:type="dcterms:W3CDTF">2022-04-25T21:47:44Z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0x010100C88C29C2933BD94CA182A57B174C1E22</vt:lpwstr>
  </property>
</Properties>
</file>